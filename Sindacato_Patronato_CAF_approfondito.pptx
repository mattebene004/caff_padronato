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_1600x9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320040"/>
            <a:ext cx="5120640" cy="6217920"/>
          </a:xfrm>
          <a:prstGeom prst="round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4389120" cy="11887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Sindacato,
Patronato e CAF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4251960" cy="100584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750" b="0">
                <a:solidFill>
                  <a:srgbClr val="FFFFFF"/>
                </a:solidFill>
                <a:latin typeface="Aptos"/>
              </a:rPr>
              <a:t>Differenze, funzioni e casi pratici
per orientarsi nei servizi di tutela,
assistenza e fiscalità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88620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3154680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60">
                <a:solidFill>
                  <a:srgbClr val="232934"/>
                </a:solidFill>
                <a:latin typeface="Aptos"/>
              </a:rPr>
              <a:t>Sindacato -&gt; tutela il lavoro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60">
                <a:solidFill>
                  <a:srgbClr val="232934"/>
                </a:solidFill>
                <a:latin typeface="Aptos"/>
              </a:rPr>
              <a:t>Patronato -&gt; pratiche previdenziali e assistenziali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60">
                <a:solidFill>
                  <a:srgbClr val="232934"/>
                </a:solidFill>
                <a:latin typeface="Aptos"/>
              </a:rPr>
              <a:t>CAF -&gt; adempimenti fiscali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97880"/>
            <a:ext cx="2377440" cy="2743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Materiale didattico - versione approfondita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65836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2700" b="1">
                <a:solidFill>
                  <a:srgbClr val="232934"/>
                </a:solidFill>
                <a:latin typeface="Aptos"/>
              </a:rPr>
              <a:t>La differenza in una frase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9848"/>
            <a:ext cx="914400" cy="4572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877824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400" b="0">
                <a:solidFill>
                  <a:srgbClr val="5C6773"/>
                </a:solidFill>
                <a:latin typeface="Aptos"/>
              </a:rPr>
              <a:t>Tre servizi diversi, spesso vicini tra loro, ma con compiti distinti.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82512"/>
            <a:ext cx="50292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5C6773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3291840"/>
          </a:xfrm>
          <a:prstGeom prst="roundRect">
            <a:avLst/>
          </a:prstGeom>
          <a:solidFill>
            <a:srgbClr val="E5ECF6"/>
          </a:solidFill>
          <a:ln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1975104"/>
            <a:ext cx="411480" cy="411480"/>
          </a:xfrm>
          <a:prstGeom prst="ellipse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84248"/>
            <a:ext cx="4114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56816"/>
            <a:ext cx="2743200" cy="32004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900" b="1">
                <a:solidFill>
                  <a:srgbClr val="232934"/>
                </a:solidFill>
                <a:latin typeface="Aptos"/>
              </a:rPr>
              <a:t>Sindacato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95728"/>
            <a:ext cx="3191256" cy="26334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50">
                <a:solidFill>
                  <a:srgbClr val="232934"/>
                </a:solidFill>
                <a:latin typeface="Aptos"/>
              </a:rPr>
              <a:t>• rappresenta i lavoratori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50">
                <a:solidFill>
                  <a:srgbClr val="232934"/>
                </a:solidFill>
                <a:latin typeface="Aptos"/>
              </a:rPr>
              <a:t>• interviene sul rapporto di lavoro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50">
                <a:solidFill>
                  <a:srgbClr val="232934"/>
                </a:solidFill>
                <a:latin typeface="Aptos"/>
              </a:rPr>
              <a:t>• contrattazione, vertenze, diritti e tutele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520440" cy="3291840"/>
          </a:xfrm>
          <a:prstGeom prst="roundRect">
            <a:avLst/>
          </a:prstGeom>
          <a:solidFill>
            <a:srgbClr val="E2F1F0"/>
          </a:solidFill>
          <a:ln>
            <a:solidFill>
              <a:srgbClr val="E2F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07992" y="1975104"/>
            <a:ext cx="411480" cy="411480"/>
          </a:xfrm>
          <a:prstGeom prst="ellipse">
            <a:avLst/>
          </a:prstGeom>
          <a:solidFill>
            <a:srgbClr val="2F8A8F"/>
          </a:solidFill>
          <a:ln>
            <a:solidFill>
              <a:srgbClr val="2F8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984248"/>
            <a:ext cx="4114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956816"/>
            <a:ext cx="2743200" cy="32004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900" b="1">
                <a:solidFill>
                  <a:srgbClr val="232934"/>
                </a:solidFill>
                <a:latin typeface="Aptos"/>
              </a:rPr>
              <a:t>Patronato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395728"/>
            <a:ext cx="3191256" cy="26334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50">
                <a:solidFill>
                  <a:srgbClr val="232934"/>
                </a:solidFill>
                <a:latin typeface="Aptos"/>
              </a:rPr>
              <a:t>• assiste nelle pratiche con enti previdenziali e assistenziali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50">
                <a:solidFill>
                  <a:srgbClr val="232934"/>
                </a:solidFill>
                <a:latin typeface="Aptos"/>
              </a:rPr>
              <a:t>• pensioni, NASpI, invalidità, congedi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50">
                <a:solidFill>
                  <a:srgbClr val="232934"/>
                </a:solidFill>
                <a:latin typeface="Aptos"/>
              </a:rPr>
              <a:t>• servizio istituzionale spesso gratuito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520440" cy="3291840"/>
          </a:xfrm>
          <a:prstGeom prst="roundRect">
            <a:avLst/>
          </a:prstGeom>
          <a:solidFill>
            <a:srgbClr val="F7EBD6"/>
          </a:solidFill>
          <a:ln>
            <a:solidFill>
              <a:srgbClr val="F7E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11312" y="1975104"/>
            <a:ext cx="411480" cy="411480"/>
          </a:xfrm>
          <a:prstGeom prst="ellipse">
            <a:avLst/>
          </a:prstGeom>
          <a:solidFill>
            <a:srgbClr val="D8A14B"/>
          </a:solidFill>
          <a:ln>
            <a:solidFill>
              <a:srgbClr val="D8A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984248"/>
            <a:ext cx="4114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1956816"/>
            <a:ext cx="2743200" cy="32004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900" b="1">
                <a:solidFill>
                  <a:srgbClr val="232934"/>
                </a:solidFill>
                <a:latin typeface="Aptos"/>
              </a:rPr>
              <a:t>CAF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395728"/>
            <a:ext cx="3191256" cy="26334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50">
                <a:solidFill>
                  <a:srgbClr val="232934"/>
                </a:solidFill>
                <a:latin typeface="Aptos"/>
              </a:rPr>
              <a:t>• fornisce assistenza fiscale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50">
                <a:solidFill>
                  <a:srgbClr val="232934"/>
                </a:solidFill>
                <a:latin typeface="Aptos"/>
              </a:rPr>
              <a:t>• 730, ISEE, IMU e altre pratiche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50">
                <a:solidFill>
                  <a:srgbClr val="232934"/>
                </a:solidFill>
                <a:latin typeface="Aptos"/>
              </a:rPr>
              <a:t>• servizio spesso a pagamento o in convenzione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532120"/>
            <a:ext cx="10515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8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623560"/>
            <a:ext cx="10058400" cy="22860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/>
            <a:r>
              <a:rPr sz="1500" b="0">
                <a:solidFill>
                  <a:srgbClr val="5C6773"/>
                </a:solidFill>
                <a:latin typeface="Aptos"/>
              </a:rPr>
              <a:t>Idea chiave: non sono sinonimi. Una persona può aver bisogno di tutti e tre in momenti diversi.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nd_bg_1600x9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4048" y="384048"/>
            <a:ext cx="4800600" cy="608990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658368"/>
            <a:ext cx="411480" cy="411480"/>
          </a:xfrm>
          <a:prstGeom prst="ellipse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67512"/>
            <a:ext cx="4114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621792"/>
            <a:ext cx="3749039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2400" b="1">
                <a:solidFill>
                  <a:srgbClr val="232934"/>
                </a:solidFill>
                <a:latin typeface="Aptos"/>
              </a:rPr>
              <a:t>Sindacato: tutela e rappresentanza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4251960" cy="44805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b="1" sz="1560">
                <a:solidFill>
                  <a:srgbClr val="232934"/>
                </a:solidFill>
                <a:latin typeface="Aptos"/>
              </a:rPr>
              <a:t>Missione:</a:t>
            </a:r>
            <a:r>
              <a:rPr sz="1560">
                <a:solidFill>
                  <a:srgbClr val="232934"/>
                </a:solidFill>
                <a:latin typeface="Aptos"/>
              </a:rPr>
              <a:t> difendere gli interessi dei lavoratori, sia sul piano collettivo sia nelle singole situazioni.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b="1" sz="1560">
                <a:solidFill>
                  <a:srgbClr val="232934"/>
                </a:solidFill>
                <a:latin typeface="Aptos"/>
              </a:rPr>
              <a:t>Cosa fa:</a:t>
            </a:r>
            <a:r>
              <a:rPr sz="1560">
                <a:solidFill>
                  <a:srgbClr val="232934"/>
                </a:solidFill>
                <a:latin typeface="Aptos"/>
              </a:rPr>
              <a:t> contrattazione collettiva, consulenza sul CCNL, supporto su buste paga, orario, ferie, mansioni, sicurezza, sanzioni e licenziamenti.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b="1" sz="1560">
                <a:solidFill>
                  <a:srgbClr val="232934"/>
                </a:solidFill>
                <a:latin typeface="Aptos"/>
              </a:rPr>
              <a:t>Quando serve:</a:t>
            </a:r>
            <a:r>
              <a:rPr sz="1560">
                <a:solidFill>
                  <a:srgbClr val="232934"/>
                </a:solidFill>
                <a:latin typeface="Aptos"/>
              </a:rPr>
              <a:t> se c'è un problema con il datore di lavoro o se si vuole capire quali diritti spettano.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b="1" sz="1560">
                <a:solidFill>
                  <a:srgbClr val="232934"/>
                </a:solidFill>
                <a:latin typeface="Aptos"/>
              </a:rPr>
              <a:t>Strumenti tipici:</a:t>
            </a:r>
            <a:r>
              <a:rPr sz="1560">
                <a:solidFill>
                  <a:srgbClr val="232934"/>
                </a:solidFill>
                <a:latin typeface="Aptos"/>
              </a:rPr>
              <a:t> delegati, sportelli, vertenze, assistenza in conciliazione e accompagnamento legale.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b="1" sz="1560">
                <a:solidFill>
                  <a:srgbClr val="232934"/>
                </a:solidFill>
                <a:latin typeface="Aptos"/>
              </a:rPr>
              <a:t>Da ricordare:</a:t>
            </a:r>
            <a:r>
              <a:rPr sz="1560">
                <a:solidFill>
                  <a:srgbClr val="232934"/>
                </a:solidFill>
                <a:latin typeface="Aptos"/>
              </a:rPr>
              <a:t> tutela il rapporto di lavoro; non sostituisce CAF e patronato nelle pratiche specialistiche.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32120"/>
            <a:ext cx="4160520" cy="548640"/>
          </a:xfrm>
          <a:prstGeom prst="roundRect">
            <a:avLst/>
          </a:prstGeom>
          <a:solidFill>
            <a:srgbClr val="E5ECF6"/>
          </a:solidFill>
          <a:ln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650992"/>
            <a:ext cx="3840480" cy="22860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360" b="0">
                <a:solidFill>
                  <a:srgbClr val="183153"/>
                </a:solidFill>
                <a:latin typeface="Aptos"/>
              </a:rPr>
              <a:t>Esempio: busta paga errata o licenziamento contestato -&gt; sindacato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382512"/>
            <a:ext cx="50292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tr_bg_1600x9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4048" y="384048"/>
            <a:ext cx="4800600" cy="608990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658368"/>
            <a:ext cx="411480" cy="411480"/>
          </a:xfrm>
          <a:prstGeom prst="ellipse">
            <a:avLst/>
          </a:prstGeom>
          <a:solidFill>
            <a:srgbClr val="2F8A8F"/>
          </a:solidFill>
          <a:ln>
            <a:solidFill>
              <a:srgbClr val="2F8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67512"/>
            <a:ext cx="4114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621792"/>
            <a:ext cx="3749039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2320" b="1">
                <a:solidFill>
                  <a:srgbClr val="232934"/>
                </a:solidFill>
                <a:latin typeface="Aptos"/>
              </a:rPr>
              <a:t>Patronato: pratiche previdenziali e sociali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4251960" cy="44805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11000"/>
              </a:lnSpc>
              <a:spcAft>
                <a:spcPts val="300"/>
              </a:spcAft>
            </a:pPr>
            <a:r>
              <a:rPr b="1" sz="1535">
                <a:solidFill>
                  <a:srgbClr val="232934"/>
                </a:solidFill>
                <a:latin typeface="Aptos"/>
              </a:rPr>
              <a:t>Missione:</a:t>
            </a:r>
            <a:r>
              <a:rPr sz="1535">
                <a:solidFill>
                  <a:srgbClr val="232934"/>
                </a:solidFill>
                <a:latin typeface="Aptos"/>
              </a:rPr>
              <a:t> aiutare il cittadino nell'accesso a prestazioni previdenziali, assistenziali e socio-sanitarie.</a:t>
            </a:r>
          </a:p>
          <a:p>
            <a:pPr algn="l">
              <a:lnSpc>
                <a:spcPct val="111000"/>
              </a:lnSpc>
              <a:spcAft>
                <a:spcPts val="300"/>
              </a:spcAft>
            </a:pPr>
            <a:r>
              <a:rPr b="1" sz="1535">
                <a:solidFill>
                  <a:srgbClr val="232934"/>
                </a:solidFill>
                <a:latin typeface="Aptos"/>
              </a:rPr>
              <a:t>Cosa fa:</a:t>
            </a:r>
            <a:r>
              <a:rPr sz="1535">
                <a:solidFill>
                  <a:srgbClr val="232934"/>
                </a:solidFill>
                <a:latin typeface="Aptos"/>
              </a:rPr>
              <a:t> domande di pensione, NASpI, assegni, invalidità civile, ricostituzioni, congedi e altre pratiche con INPS o enti simili.</a:t>
            </a:r>
          </a:p>
          <a:p>
            <a:pPr algn="l">
              <a:lnSpc>
                <a:spcPct val="111000"/>
              </a:lnSpc>
              <a:spcAft>
                <a:spcPts val="300"/>
              </a:spcAft>
            </a:pPr>
            <a:r>
              <a:rPr b="1" sz="1535">
                <a:solidFill>
                  <a:srgbClr val="232934"/>
                </a:solidFill>
                <a:latin typeface="Aptos"/>
              </a:rPr>
              <a:t>Quando serve:</a:t>
            </a:r>
            <a:r>
              <a:rPr sz="1535">
                <a:solidFill>
                  <a:srgbClr val="232934"/>
                </a:solidFill>
                <a:latin typeface="Aptos"/>
              </a:rPr>
              <a:t> se bisogna presentare una domanda, correggere una posizione contributiva o seguire una pratica di welfare.</a:t>
            </a:r>
          </a:p>
          <a:p>
            <a:pPr algn="l">
              <a:lnSpc>
                <a:spcPct val="111000"/>
              </a:lnSpc>
              <a:spcAft>
                <a:spcPts val="300"/>
              </a:spcAft>
            </a:pPr>
            <a:r>
              <a:rPr b="1" sz="1535">
                <a:solidFill>
                  <a:srgbClr val="232934"/>
                </a:solidFill>
                <a:latin typeface="Aptos"/>
              </a:rPr>
              <a:t>Costo:</a:t>
            </a:r>
            <a:r>
              <a:rPr sz="1535">
                <a:solidFill>
                  <a:srgbClr val="232934"/>
                </a:solidFill>
                <a:latin typeface="Aptos"/>
              </a:rPr>
              <a:t> l'assistenza istituzionale è spesso gratuita per il cittadino.</a:t>
            </a:r>
          </a:p>
          <a:p>
            <a:pPr algn="l">
              <a:lnSpc>
                <a:spcPct val="111000"/>
              </a:lnSpc>
              <a:spcAft>
                <a:spcPts val="300"/>
              </a:spcAft>
            </a:pPr>
            <a:r>
              <a:rPr b="1" sz="1535">
                <a:solidFill>
                  <a:srgbClr val="232934"/>
                </a:solidFill>
                <a:latin typeface="Aptos"/>
              </a:rPr>
              <a:t>Da ricordare:</a:t>
            </a:r>
            <a:r>
              <a:rPr sz="1535">
                <a:solidFill>
                  <a:srgbClr val="232934"/>
                </a:solidFill>
                <a:latin typeface="Aptos"/>
              </a:rPr>
              <a:t> è orientato alle prestazioni e ai diritti sociali, non alla gestione fiscale ordinaria.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32120"/>
            <a:ext cx="4160520" cy="548640"/>
          </a:xfrm>
          <a:prstGeom prst="roundRect">
            <a:avLst/>
          </a:prstGeom>
          <a:solidFill>
            <a:srgbClr val="E2F1F0"/>
          </a:solidFill>
          <a:ln>
            <a:solidFill>
              <a:srgbClr val="E2F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650992"/>
            <a:ext cx="3840480" cy="22860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355" b="0">
                <a:solidFill>
                  <a:srgbClr val="2F8A8F"/>
                </a:solidFill>
                <a:latin typeface="Aptos"/>
              </a:rPr>
              <a:t>Esempio: domanda NASpI o pensione di vecchiaia -&gt; patronato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382512"/>
            <a:ext cx="50292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f_bg_1600x9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4048" y="384048"/>
            <a:ext cx="4800600" cy="608990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658368"/>
            <a:ext cx="411480" cy="411480"/>
          </a:xfrm>
          <a:prstGeom prst="ellipse">
            <a:avLst/>
          </a:prstGeom>
          <a:solidFill>
            <a:srgbClr val="D8A14B"/>
          </a:solidFill>
          <a:ln>
            <a:solidFill>
              <a:srgbClr val="D8A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67512"/>
            <a:ext cx="4114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621792"/>
            <a:ext cx="365760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2400" b="1">
                <a:solidFill>
                  <a:srgbClr val="232934"/>
                </a:solidFill>
                <a:latin typeface="Aptos"/>
              </a:rPr>
              <a:t>CAF: assistenza fiscale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4251960" cy="44805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11000"/>
              </a:lnSpc>
              <a:spcAft>
                <a:spcPts val="300"/>
              </a:spcAft>
            </a:pPr>
            <a:r>
              <a:rPr b="1" sz="1535">
                <a:solidFill>
                  <a:srgbClr val="232934"/>
                </a:solidFill>
                <a:latin typeface="Aptos"/>
              </a:rPr>
              <a:t>Missione:</a:t>
            </a:r>
            <a:r>
              <a:rPr sz="1535">
                <a:solidFill>
                  <a:srgbClr val="232934"/>
                </a:solidFill>
                <a:latin typeface="Aptos"/>
              </a:rPr>
              <a:t> assistere cittadini e famiglie negli adempimenti fiscali e nella documentazione reddituale.</a:t>
            </a:r>
          </a:p>
          <a:p>
            <a:pPr algn="l">
              <a:lnSpc>
                <a:spcPct val="111000"/>
              </a:lnSpc>
              <a:spcAft>
                <a:spcPts val="300"/>
              </a:spcAft>
            </a:pPr>
            <a:r>
              <a:rPr b="1" sz="1535">
                <a:solidFill>
                  <a:srgbClr val="232934"/>
                </a:solidFill>
                <a:latin typeface="Aptos"/>
              </a:rPr>
              <a:t>Cosa fa:</a:t>
            </a:r>
            <a:r>
              <a:rPr sz="1535">
                <a:solidFill>
                  <a:srgbClr val="232934"/>
                </a:solidFill>
                <a:latin typeface="Aptos"/>
              </a:rPr>
              <a:t> 730, modello Redditi, ISEE, IMU e altre pratiche fiscali o documentali previste dal servizio.</a:t>
            </a:r>
          </a:p>
          <a:p>
            <a:pPr algn="l">
              <a:lnSpc>
                <a:spcPct val="111000"/>
              </a:lnSpc>
              <a:spcAft>
                <a:spcPts val="300"/>
              </a:spcAft>
            </a:pPr>
            <a:r>
              <a:rPr b="1" sz="1535">
                <a:solidFill>
                  <a:srgbClr val="232934"/>
                </a:solidFill>
                <a:latin typeface="Aptos"/>
              </a:rPr>
              <a:t>Quando serve:</a:t>
            </a:r>
            <a:r>
              <a:rPr sz="1535">
                <a:solidFill>
                  <a:srgbClr val="232934"/>
                </a:solidFill>
                <a:latin typeface="Aptos"/>
              </a:rPr>
              <a:t> se bisogna dichiarare redditi, calcolare un indicatore economico o predisporre documentazione per bonus e agevolazioni.</a:t>
            </a:r>
          </a:p>
          <a:p>
            <a:pPr algn="l">
              <a:lnSpc>
                <a:spcPct val="111000"/>
              </a:lnSpc>
              <a:spcAft>
                <a:spcPts val="300"/>
              </a:spcAft>
            </a:pPr>
            <a:r>
              <a:rPr b="1" sz="1535">
                <a:solidFill>
                  <a:srgbClr val="232934"/>
                </a:solidFill>
                <a:latin typeface="Aptos"/>
              </a:rPr>
              <a:t>Costo:</a:t>
            </a:r>
            <a:r>
              <a:rPr sz="1535">
                <a:solidFill>
                  <a:srgbClr val="232934"/>
                </a:solidFill>
                <a:latin typeface="Aptos"/>
              </a:rPr>
              <a:t> il servizio è spesso a pagamento, ma può essere gratuito per iscritti o convenzioni.</a:t>
            </a:r>
          </a:p>
          <a:p>
            <a:pPr algn="l">
              <a:lnSpc>
                <a:spcPct val="111000"/>
              </a:lnSpc>
              <a:spcAft>
                <a:spcPts val="300"/>
              </a:spcAft>
            </a:pPr>
            <a:r>
              <a:rPr b="1" sz="1535">
                <a:solidFill>
                  <a:srgbClr val="232934"/>
                </a:solidFill>
                <a:latin typeface="Aptos"/>
              </a:rPr>
              <a:t>Da ricordare:</a:t>
            </a:r>
            <a:r>
              <a:rPr sz="1535">
                <a:solidFill>
                  <a:srgbClr val="232934"/>
                </a:solidFill>
                <a:latin typeface="Aptos"/>
              </a:rPr>
              <a:t> lavora sul versante fiscale; non gestisce vertenze di lavoro né domande previdenziali complesse.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32120"/>
            <a:ext cx="4160520" cy="548640"/>
          </a:xfrm>
          <a:prstGeom prst="roundRect">
            <a:avLst/>
          </a:prstGeom>
          <a:solidFill>
            <a:srgbClr val="F7EBD6"/>
          </a:solidFill>
          <a:ln>
            <a:solidFill>
              <a:srgbClr val="F7E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650992"/>
            <a:ext cx="3840480" cy="22860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355" b="0">
                <a:solidFill>
                  <a:srgbClr val="D8A14B"/>
                </a:solidFill>
                <a:latin typeface="Aptos"/>
              </a:rPr>
              <a:t>Esempio: 730 o ISEE per bonus e agevolazioni -&gt; CAF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382512"/>
            <a:ext cx="50292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65836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2700" b="1">
                <a:solidFill>
                  <a:srgbClr val="232934"/>
                </a:solidFill>
                <a:latin typeface="Aptos"/>
              </a:rPr>
              <a:t>Confronto operativo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9848"/>
            <a:ext cx="914400" cy="4572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877824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400" b="0">
                <a:solidFill>
                  <a:srgbClr val="5C6773"/>
                </a:solidFill>
                <a:latin typeface="Aptos"/>
              </a:rPr>
              <a:t>Stessa finalità generale di supporto al cittadino, ma ambiti di intervento diversi.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82512"/>
            <a:ext cx="50292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5C6773"/>
                </a:solidFill>
                <a:latin typeface="Aptos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9270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88920"/>
                <a:gridCol w="2788920"/>
                <a:gridCol w="2788920"/>
              </a:tblGrid>
              <a:tr h="74676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Aspetto</a:t>
                      </a:r>
                    </a:p>
                  </a:txBody>
                  <a:tcPr marL="50800" marR="50800" marT="38100" marB="38100">
                    <a:solidFill>
                      <a:srgbClr val="183153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Sindacato</a:t>
                      </a:r>
                    </a:p>
                  </a:txBody>
                  <a:tcPr marL="50800" marR="50800" marT="38100" marB="38100">
                    <a:solidFill>
                      <a:srgbClr val="183153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Patronato</a:t>
                      </a:r>
                    </a:p>
                  </a:txBody>
                  <a:tcPr marL="50800" marR="50800" marT="38100" marB="38100">
                    <a:solidFill>
                      <a:srgbClr val="2F8A8F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CAF</a:t>
                      </a:r>
                    </a:p>
                  </a:txBody>
                  <a:tcPr marL="50800" marR="50800" marT="38100" marB="38100">
                    <a:solidFill>
                      <a:srgbClr val="D8A14B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 algn="l"/>
                      <a:r>
                        <a:rPr sz="1460" b="1">
                          <a:solidFill>
                            <a:srgbClr val="232934"/>
                          </a:solidFill>
                          <a:latin typeface="Aptos"/>
                        </a:rPr>
                        <a:t>Ambito principale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232934"/>
                          </a:solidFill>
                          <a:latin typeface="Aptos"/>
                        </a:rPr>
                        <a:t>Rapporto di lavoro</a:t>
                      </a:r>
                    </a:p>
                  </a:txBody>
                  <a:tcPr marL="50800" marR="50800" marT="38100" marB="38100">
                    <a:solidFill>
                      <a:srgbClr val="E5ECF6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232934"/>
                          </a:solidFill>
                          <a:latin typeface="Aptos"/>
                        </a:rPr>
                        <a:t>Previdenza e assistenza</a:t>
                      </a:r>
                    </a:p>
                  </a:txBody>
                  <a:tcPr marL="50800" marR="50800" marT="38100" marB="38100">
                    <a:solidFill>
                      <a:srgbClr val="E2F1F0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232934"/>
                          </a:solidFill>
                          <a:latin typeface="Aptos"/>
                        </a:rPr>
                        <a:t>Fiscalità e dichiarazioni</a:t>
                      </a:r>
                    </a:p>
                  </a:txBody>
                  <a:tcPr marL="50800" marR="50800" marT="38100" marB="38100">
                    <a:solidFill>
                      <a:srgbClr val="F7EBD6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 algn="l"/>
                      <a:r>
                        <a:rPr sz="1460" b="1">
                          <a:solidFill>
                            <a:srgbClr val="232934"/>
                          </a:solidFill>
                          <a:latin typeface="Aptos"/>
                        </a:rPr>
                        <a:t>Esempi tipici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232934"/>
                          </a:solidFill>
                          <a:latin typeface="Aptos"/>
                        </a:rPr>
                        <a:t>Vertenze, buste paga, licenziamenti</a:t>
                      </a:r>
                    </a:p>
                  </a:txBody>
                  <a:tcPr marL="50800" marR="50800" marT="38100" marB="38100">
                    <a:solidFill>
                      <a:srgbClr val="E5ECF6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232934"/>
                          </a:solidFill>
                          <a:latin typeface="Aptos"/>
                        </a:rPr>
                        <a:t>Pensione, NASpI, invalidità</a:t>
                      </a:r>
                    </a:p>
                  </a:txBody>
                  <a:tcPr marL="50800" marR="50800" marT="38100" marB="38100">
                    <a:solidFill>
                      <a:srgbClr val="E2F1F0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232934"/>
                          </a:solidFill>
                          <a:latin typeface="Aptos"/>
                        </a:rPr>
                        <a:t>730, ISEE, IMU</a:t>
                      </a:r>
                    </a:p>
                  </a:txBody>
                  <a:tcPr marL="50800" marR="50800" marT="38100" marB="38100">
                    <a:solidFill>
                      <a:srgbClr val="F7EBD6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 algn="l"/>
                      <a:r>
                        <a:rPr sz="1460" b="1">
                          <a:solidFill>
                            <a:srgbClr val="232934"/>
                          </a:solidFill>
                          <a:latin typeface="Aptos"/>
                        </a:rPr>
                        <a:t>Interlocutori frequenti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232934"/>
                          </a:solidFill>
                          <a:latin typeface="Aptos"/>
                        </a:rPr>
                        <a:t>Datore di lavoro, consulenti, avvocati</a:t>
                      </a:r>
                    </a:p>
                  </a:txBody>
                  <a:tcPr marL="50800" marR="50800" marT="38100" marB="38100">
                    <a:solidFill>
                      <a:srgbClr val="E5ECF6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232934"/>
                          </a:solidFill>
                          <a:latin typeface="Aptos"/>
                        </a:rPr>
                        <a:t>INPS e altri enti</a:t>
                      </a:r>
                    </a:p>
                  </a:txBody>
                  <a:tcPr marL="50800" marR="50800" marT="38100" marB="38100">
                    <a:solidFill>
                      <a:srgbClr val="E2F1F0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232934"/>
                          </a:solidFill>
                          <a:latin typeface="Aptos"/>
                        </a:rPr>
                        <a:t>Agenzia Entrate, Comuni</a:t>
                      </a:r>
                    </a:p>
                  </a:txBody>
                  <a:tcPr marL="50800" marR="50800" marT="38100" marB="38100">
                    <a:solidFill>
                      <a:srgbClr val="F7EBD6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 algn="l"/>
                      <a:r>
                        <a:rPr sz="1460" b="1">
                          <a:solidFill>
                            <a:srgbClr val="232934"/>
                          </a:solidFill>
                          <a:latin typeface="Aptos"/>
                        </a:rPr>
                        <a:t>Costo tipico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232934"/>
                          </a:solidFill>
                          <a:latin typeface="Aptos"/>
                        </a:rPr>
                        <a:t>Iscrizione o quota servizi</a:t>
                      </a:r>
                    </a:p>
                  </a:txBody>
                  <a:tcPr marL="50800" marR="50800" marT="38100" marB="38100">
                    <a:solidFill>
                      <a:srgbClr val="E5ECF6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232934"/>
                          </a:solidFill>
                          <a:latin typeface="Aptos"/>
                        </a:rPr>
                        <a:t>Spesso gratuito</a:t>
                      </a:r>
                    </a:p>
                  </a:txBody>
                  <a:tcPr marL="50800" marR="50800" marT="38100" marB="38100">
                    <a:solidFill>
                      <a:srgbClr val="E2F1F0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232934"/>
                          </a:solidFill>
                          <a:latin typeface="Aptos"/>
                        </a:rPr>
                        <a:t>Spesso a pagamento</a:t>
                      </a:r>
                    </a:p>
                  </a:txBody>
                  <a:tcPr marL="50800" marR="50800" marT="38100" marB="38100">
                    <a:solidFill>
                      <a:srgbClr val="F7EBD6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 algn="l"/>
                      <a:r>
                        <a:rPr sz="1460" b="1">
                          <a:solidFill>
                            <a:srgbClr val="232934"/>
                          </a:solidFill>
                          <a:latin typeface="Aptos"/>
                        </a:rPr>
                        <a:t>Domanda guida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232934"/>
                          </a:solidFill>
                          <a:latin typeface="Aptos"/>
                        </a:rPr>
                        <a:t>Ho un problema sul lavoro?</a:t>
                      </a:r>
                    </a:p>
                  </a:txBody>
                  <a:tcPr marL="50800" marR="50800" marT="38100" marB="38100">
                    <a:solidFill>
                      <a:srgbClr val="E5ECF6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232934"/>
                          </a:solidFill>
                          <a:latin typeface="Aptos"/>
                        </a:rPr>
                        <a:t>Devo ottenere una prestazione?</a:t>
                      </a:r>
                    </a:p>
                  </a:txBody>
                  <a:tcPr marL="50800" marR="50800" marT="38100" marB="38100">
                    <a:solidFill>
                      <a:srgbClr val="E2F1F0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232934"/>
                          </a:solidFill>
                          <a:latin typeface="Aptos"/>
                        </a:rPr>
                        <a:t>Devo fare una pratica fiscale?</a:t>
                      </a:r>
                    </a:p>
                  </a:txBody>
                  <a:tcPr marL="50800" marR="50800" marT="38100" marB="38100">
                    <a:solidFill>
                      <a:srgbClr val="F7EBD6"/>
                    </a:solidFill>
                    <a:lnL w="12700">
                      <a:solidFill>
                        <a:srgbClr val="D8DFE4"/>
                      </a:solidFill>
                    </a:lnL>
                    <a:lnR w="12700">
                      <a:solidFill>
                        <a:srgbClr val="D8DFE4"/>
                      </a:solidFill>
                    </a:lnR>
                    <a:lnT w="12700">
                      <a:solidFill>
                        <a:srgbClr val="D8DFE4"/>
                      </a:solidFill>
                    </a:lnT>
                    <a:lnB w="12700">
                      <a:solidFill>
                        <a:srgbClr val="D8DFE4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65836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2700" b="1">
                <a:solidFill>
                  <a:srgbClr val="232934"/>
                </a:solidFill>
                <a:latin typeface="Aptos"/>
              </a:rPr>
              <a:t>6 casi pratici: a chi mi rivolgo?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9848"/>
            <a:ext cx="914400" cy="4572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877824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400" b="0">
                <a:solidFill>
                  <a:srgbClr val="5C6773"/>
                </a:solidFill>
                <a:latin typeface="Aptos"/>
              </a:rPr>
              <a:t>Allenare il riconoscimento corretto del servizio.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82512"/>
            <a:ext cx="50292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5C6773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880360" cy="1508760"/>
          </a:xfrm>
          <a:prstGeom prst="roundRect">
            <a:avLst/>
          </a:prstGeom>
          <a:solidFill>
            <a:srgbClr val="E5ECF6"/>
          </a:solidFill>
          <a:ln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37944"/>
            <a:ext cx="2578608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700" b="1">
                <a:solidFill>
                  <a:srgbClr val="232934"/>
                </a:solidFill>
                <a:latin typeface="Aptos"/>
              </a:rPr>
              <a:t>La busta paga non torna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2569464"/>
            <a:ext cx="1417320" cy="384048"/>
          </a:xfrm>
          <a:prstGeom prst="round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624328"/>
            <a:ext cx="1325880" cy="20116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Aptos"/>
              </a:rPr>
              <a:t>Sindacato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691640"/>
            <a:ext cx="2880360" cy="1508760"/>
          </a:xfrm>
          <a:prstGeom prst="roundRect">
            <a:avLst/>
          </a:prstGeom>
          <a:solidFill>
            <a:srgbClr val="E2F1F0"/>
          </a:solidFill>
          <a:ln>
            <a:solidFill>
              <a:srgbClr val="E2F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3672" y="1837944"/>
            <a:ext cx="2578608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700" b="1">
                <a:solidFill>
                  <a:srgbClr val="232934"/>
                </a:solidFill>
                <a:latin typeface="Aptos"/>
              </a:rPr>
              <a:t>Devo chiedere la NASpI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2569464"/>
            <a:ext cx="1417320" cy="384048"/>
          </a:xfrm>
          <a:prstGeom prst="roundRect">
            <a:avLst/>
          </a:prstGeom>
          <a:solidFill>
            <a:srgbClr val="2F8A8F"/>
          </a:solidFill>
          <a:ln>
            <a:solidFill>
              <a:srgbClr val="2F8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2624328"/>
            <a:ext cx="1325880" cy="20116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Aptos"/>
              </a:rPr>
              <a:t>Patronato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691640"/>
            <a:ext cx="2880360" cy="1508760"/>
          </a:xfrm>
          <a:prstGeom prst="roundRect">
            <a:avLst/>
          </a:prstGeom>
          <a:solidFill>
            <a:srgbClr val="F7EBD6"/>
          </a:solidFill>
          <a:ln>
            <a:solidFill>
              <a:srgbClr val="F7E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1" y="1837944"/>
            <a:ext cx="2578608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700" b="1">
                <a:solidFill>
                  <a:srgbClr val="232934"/>
                </a:solidFill>
                <a:latin typeface="Aptos"/>
              </a:rPr>
              <a:t>Mi serve l'ISEE per un bonus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71231" y="2569464"/>
            <a:ext cx="1417320" cy="384048"/>
          </a:xfrm>
          <a:prstGeom prst="roundRect">
            <a:avLst/>
          </a:prstGeom>
          <a:solidFill>
            <a:srgbClr val="D8A14B"/>
          </a:solidFill>
          <a:ln>
            <a:solidFill>
              <a:srgbClr val="D8A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98664" y="2624328"/>
            <a:ext cx="1325880" cy="20116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Aptos"/>
              </a:rPr>
              <a:t>CAF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03320"/>
            <a:ext cx="2880360" cy="1508760"/>
          </a:xfrm>
          <a:prstGeom prst="roundRect">
            <a:avLst/>
          </a:prstGeom>
          <a:solidFill>
            <a:srgbClr val="E5ECF6"/>
          </a:solidFill>
          <a:ln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849624"/>
            <a:ext cx="2578608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700" b="1">
                <a:solidFill>
                  <a:srgbClr val="232934"/>
                </a:solidFill>
                <a:latin typeface="Aptos"/>
              </a:rPr>
              <a:t>Il datore mi contesta un addebito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" y="4581144"/>
            <a:ext cx="1417320" cy="384048"/>
          </a:xfrm>
          <a:prstGeom prst="round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4636008"/>
            <a:ext cx="1325880" cy="20116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Aptos"/>
              </a:rPr>
              <a:t>Sindacato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80" y="3703320"/>
            <a:ext cx="2880360" cy="1508760"/>
          </a:xfrm>
          <a:prstGeom prst="roundRect">
            <a:avLst/>
          </a:prstGeom>
          <a:solidFill>
            <a:srgbClr val="E2F1F0"/>
          </a:solidFill>
          <a:ln>
            <a:solidFill>
              <a:srgbClr val="E2F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33672" y="3849624"/>
            <a:ext cx="2578608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700" b="1">
                <a:solidFill>
                  <a:srgbClr val="232934"/>
                </a:solidFill>
                <a:latin typeface="Aptos"/>
              </a:rPr>
              <a:t>Sto preparando la domanda di pensione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33672" y="4581144"/>
            <a:ext cx="1417320" cy="384048"/>
          </a:xfrm>
          <a:prstGeom prst="roundRect">
            <a:avLst/>
          </a:prstGeom>
          <a:solidFill>
            <a:srgbClr val="2F8A8F"/>
          </a:solidFill>
          <a:ln>
            <a:solidFill>
              <a:srgbClr val="2F8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61104" y="4636008"/>
            <a:ext cx="1325880" cy="20116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Aptos"/>
              </a:rPr>
              <a:t>Patronato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3703320"/>
            <a:ext cx="2880360" cy="1508760"/>
          </a:xfrm>
          <a:prstGeom prst="roundRect">
            <a:avLst/>
          </a:prstGeom>
          <a:solidFill>
            <a:srgbClr val="F7EBD6"/>
          </a:solidFill>
          <a:ln>
            <a:solidFill>
              <a:srgbClr val="F7E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71231" y="3849624"/>
            <a:ext cx="2578608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700" b="1">
                <a:solidFill>
                  <a:srgbClr val="232934"/>
                </a:solidFill>
                <a:latin typeface="Aptos"/>
              </a:rPr>
              <a:t>Devo presentare il 730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71231" y="4581144"/>
            <a:ext cx="1417320" cy="384048"/>
          </a:xfrm>
          <a:prstGeom prst="roundRect">
            <a:avLst/>
          </a:prstGeom>
          <a:solidFill>
            <a:srgbClr val="D8A14B"/>
          </a:solidFill>
          <a:ln>
            <a:solidFill>
              <a:srgbClr val="D8A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98664" y="4636008"/>
            <a:ext cx="1325880" cy="20116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Aptos"/>
              </a:rPr>
              <a:t>CAF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65836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2700" b="1">
                <a:solidFill>
                  <a:srgbClr val="232934"/>
                </a:solidFill>
                <a:latin typeface="Aptos"/>
              </a:rPr>
              <a:t>Come possono lavorare insieme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9848"/>
            <a:ext cx="914400" cy="4572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84280" y="6382512"/>
            <a:ext cx="50292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5C6773"/>
                </a:solidFill>
                <a:latin typeface="Aptos"/>
              </a:rPr>
              <a:t>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14600" y="3611880"/>
            <a:ext cx="1371600" cy="0"/>
          </a:xfrm>
          <a:prstGeom prst="line">
            <a:avLst/>
          </a:prstGeom>
          <a:ln w="25400">
            <a:solidFill>
              <a:srgbClr val="D8D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355080" y="3611880"/>
            <a:ext cx="1371599" cy="0"/>
          </a:xfrm>
          <a:prstGeom prst="line">
            <a:avLst/>
          </a:prstGeom>
          <a:ln w="25400">
            <a:solidFill>
              <a:srgbClr val="D8D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325880"/>
            <a:ext cx="90068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8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490472"/>
            <a:ext cx="8549640" cy="36576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/>
            <a:r>
              <a:rPr sz="1310" b="0">
                <a:solidFill>
                  <a:srgbClr val="5C6773"/>
                </a:solidFill>
                <a:latin typeface="Aptos"/>
              </a:rPr>
              <a:t>Esempio: perdita del lavoro -&gt; tutela del rapporto -&gt; domanda di disoccupazione -&gt; aggiornamento situazione fiscale.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2057400" cy="1874519"/>
          </a:xfrm>
          <a:prstGeom prst="roundRect">
            <a:avLst/>
          </a:prstGeom>
          <a:solidFill>
            <a:srgbClr val="E5ECF6"/>
          </a:solidFill>
          <a:ln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81328" y="2907792"/>
            <a:ext cx="411480" cy="411480"/>
          </a:xfrm>
          <a:prstGeom prst="ellipse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2916936"/>
            <a:ext cx="4114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29000"/>
            <a:ext cx="1417320" cy="32004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/>
            <a:r>
              <a:rPr sz="1800" b="1">
                <a:solidFill>
                  <a:srgbClr val="232934"/>
                </a:solidFill>
                <a:latin typeface="Aptos"/>
              </a:rPr>
              <a:t>Sindacato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1691640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60">
                <a:solidFill>
                  <a:srgbClr val="232934"/>
                </a:solidFill>
                <a:latin typeface="Aptos"/>
              </a:rPr>
              <a:t>verifica diritti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60">
                <a:solidFill>
                  <a:srgbClr val="232934"/>
                </a:solidFill>
                <a:latin typeface="Aptos"/>
              </a:rPr>
              <a:t>e spettanze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697480"/>
            <a:ext cx="2240280" cy="1874519"/>
          </a:xfrm>
          <a:prstGeom prst="roundRect">
            <a:avLst/>
          </a:prstGeom>
          <a:solidFill>
            <a:srgbClr val="E2F1F0"/>
          </a:solidFill>
          <a:ln>
            <a:solidFill>
              <a:srgbClr val="E2F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00600" y="2907792"/>
            <a:ext cx="411480" cy="411480"/>
          </a:xfrm>
          <a:prstGeom prst="ellipse">
            <a:avLst/>
          </a:prstGeom>
          <a:solidFill>
            <a:srgbClr val="2F8A8F"/>
          </a:solidFill>
          <a:ln>
            <a:solidFill>
              <a:srgbClr val="2F8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916936"/>
            <a:ext cx="4114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429000"/>
            <a:ext cx="1508760" cy="32004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/>
            <a:r>
              <a:rPr sz="1800" b="1">
                <a:solidFill>
                  <a:srgbClr val="232934"/>
                </a:solidFill>
                <a:latin typeface="Aptos"/>
              </a:rPr>
              <a:t>Patronato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794760"/>
            <a:ext cx="1737360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60">
                <a:solidFill>
                  <a:srgbClr val="232934"/>
                </a:solidFill>
                <a:latin typeface="Aptos"/>
              </a:rPr>
              <a:t>presenta la NASpI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60">
                <a:solidFill>
                  <a:srgbClr val="232934"/>
                </a:solidFill>
                <a:latin typeface="Aptos"/>
              </a:rPr>
              <a:t>o altre domande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697480"/>
            <a:ext cx="2057400" cy="1874519"/>
          </a:xfrm>
          <a:prstGeom prst="roundRect">
            <a:avLst/>
          </a:prstGeom>
          <a:solidFill>
            <a:srgbClr val="F7EBD6"/>
          </a:solidFill>
          <a:ln>
            <a:solidFill>
              <a:srgbClr val="F7E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76488" y="2907792"/>
            <a:ext cx="411480" cy="411480"/>
          </a:xfrm>
          <a:prstGeom prst="ellipse">
            <a:avLst/>
          </a:prstGeom>
          <a:solidFill>
            <a:srgbClr val="D8A14B"/>
          </a:solidFill>
          <a:ln>
            <a:solidFill>
              <a:srgbClr val="D8A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6488" y="2916936"/>
            <a:ext cx="4114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429000"/>
            <a:ext cx="1417320" cy="32004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/>
            <a:r>
              <a:rPr sz="1800" b="1">
                <a:solidFill>
                  <a:srgbClr val="232934"/>
                </a:solidFill>
                <a:latin typeface="Aptos"/>
              </a:rPr>
              <a:t>CAF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3794760"/>
            <a:ext cx="1691640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60">
                <a:solidFill>
                  <a:srgbClr val="232934"/>
                </a:solidFill>
                <a:latin typeface="Aptos"/>
              </a:rPr>
              <a:t>cura ISEE, 730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60">
                <a:solidFill>
                  <a:srgbClr val="232934"/>
                </a:solidFill>
                <a:latin typeface="Aptos"/>
              </a:rPr>
              <a:t>e adempimenti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65836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2700" b="1">
                <a:solidFill>
                  <a:srgbClr val="232934"/>
                </a:solidFill>
                <a:latin typeface="Aptos"/>
              </a:rPr>
              <a:t>Documenti utili prima di presentarsi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9848"/>
            <a:ext cx="914400" cy="4572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877824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400" b="0">
                <a:solidFill>
                  <a:srgbClr val="5C6773"/>
                </a:solidFill>
                <a:latin typeface="Aptos"/>
              </a:rPr>
              <a:t>Una preparazione minima fa risparmiare tempo e riduce errori.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82512"/>
            <a:ext cx="50292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5C6773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74519"/>
            <a:ext cx="3291840" cy="3246120"/>
          </a:xfrm>
          <a:prstGeom prst="roundRect">
            <a:avLst/>
          </a:prstGeom>
          <a:solidFill>
            <a:srgbClr val="E5ECF6"/>
          </a:solidFill>
          <a:ln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029968"/>
            <a:ext cx="411480" cy="411480"/>
          </a:xfrm>
          <a:prstGeom prst="ellipse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39112"/>
            <a:ext cx="4114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975104"/>
            <a:ext cx="2468880" cy="41148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820" b="1">
                <a:solidFill>
                  <a:srgbClr val="232934"/>
                </a:solidFill>
                <a:latin typeface="Aptos"/>
              </a:rPr>
              <a:t>Per il sindacato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542032"/>
            <a:ext cx="2944368" cy="2240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>
                <a:solidFill>
                  <a:srgbClr val="232934"/>
                </a:solidFill>
                <a:latin typeface="Aptos"/>
              </a:rPr>
              <a:t>• contratto o lettera di assunzione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>
                <a:solidFill>
                  <a:srgbClr val="232934"/>
                </a:solidFill>
                <a:latin typeface="Aptos"/>
              </a:rPr>
              <a:t>• ultime buste paga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>
                <a:solidFill>
                  <a:srgbClr val="232934"/>
                </a:solidFill>
                <a:latin typeface="Aptos"/>
              </a:rPr>
              <a:t>• contestazioni o comunicazioni aziendali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874519"/>
            <a:ext cx="3291840" cy="3246120"/>
          </a:xfrm>
          <a:prstGeom prst="roundRect">
            <a:avLst/>
          </a:prstGeom>
          <a:solidFill>
            <a:srgbClr val="E2F1F0"/>
          </a:solidFill>
          <a:ln>
            <a:solidFill>
              <a:srgbClr val="E2F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6864" y="2029968"/>
            <a:ext cx="411480" cy="411480"/>
          </a:xfrm>
          <a:prstGeom prst="ellipse">
            <a:avLst/>
          </a:prstGeom>
          <a:solidFill>
            <a:srgbClr val="2F8A8F"/>
          </a:solidFill>
          <a:ln>
            <a:solidFill>
              <a:srgbClr val="2F8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2039112"/>
            <a:ext cx="4114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064" y="1975104"/>
            <a:ext cx="2468880" cy="41148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820" b="1">
                <a:solidFill>
                  <a:srgbClr val="232934"/>
                </a:solidFill>
                <a:latin typeface="Aptos"/>
              </a:rPr>
              <a:t>Per il patronato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542032"/>
            <a:ext cx="2944368" cy="2240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>
                <a:solidFill>
                  <a:srgbClr val="232934"/>
                </a:solidFill>
                <a:latin typeface="Aptos"/>
              </a:rPr>
              <a:t>• documento, codice fiscale, eventuale SPID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>
                <a:solidFill>
                  <a:srgbClr val="232934"/>
                </a:solidFill>
                <a:latin typeface="Aptos"/>
              </a:rPr>
              <a:t>• estratto contributivo o certificazioni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>
                <a:solidFill>
                  <a:srgbClr val="232934"/>
                </a:solidFill>
                <a:latin typeface="Aptos"/>
              </a:rPr>
              <a:t>• verbali o certificati per la pratica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1" y="1874519"/>
            <a:ext cx="3291840" cy="3246120"/>
          </a:xfrm>
          <a:prstGeom prst="roundRect">
            <a:avLst/>
          </a:prstGeom>
          <a:solidFill>
            <a:srgbClr val="F7EBD6"/>
          </a:solidFill>
          <a:ln>
            <a:solidFill>
              <a:srgbClr val="F7E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75903" y="2029968"/>
            <a:ext cx="411480" cy="411480"/>
          </a:xfrm>
          <a:prstGeom prst="ellipse">
            <a:avLst/>
          </a:prstGeom>
          <a:solidFill>
            <a:srgbClr val="D8A14B"/>
          </a:solidFill>
          <a:ln>
            <a:solidFill>
              <a:srgbClr val="D8A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3" y="2039112"/>
            <a:ext cx="4114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3" y="1975104"/>
            <a:ext cx="2468880" cy="41148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820" b="1">
                <a:solidFill>
                  <a:srgbClr val="232934"/>
                </a:solidFill>
                <a:latin typeface="Aptos"/>
              </a:rPr>
              <a:t>Per il CAF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3" y="2542032"/>
            <a:ext cx="2944368" cy="2240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>
                <a:solidFill>
                  <a:srgbClr val="232934"/>
                </a:solidFill>
                <a:latin typeface="Aptos"/>
              </a:rPr>
              <a:t>• CU, spese detraibili, dati del nucleo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>
                <a:solidFill>
                  <a:srgbClr val="232934"/>
                </a:solidFill>
                <a:latin typeface="Aptos"/>
              </a:rPr>
              <a:t>• documenti immobiliari se necessari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>
                <a:solidFill>
                  <a:srgbClr val="232934"/>
                </a:solidFill>
                <a:latin typeface="Aptos"/>
              </a:rPr>
              <a:t>• dichiarazione precedente e IBAN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486400"/>
            <a:ext cx="10287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605272"/>
            <a:ext cx="10012680" cy="38404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/>
            <a:r>
              <a:rPr sz="1270" b="0">
                <a:solidFill>
                  <a:srgbClr val="5C6773"/>
                </a:solidFill>
                <a:latin typeface="Aptos"/>
              </a:rPr>
              <a:t>Nota per gli allievi: le pratiche possono variare da ente a ente; conviene sempre verificare documenti e appuntamento prima della visita.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229600" cy="65836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2700" b="1">
                <a:solidFill>
                  <a:srgbClr val="232934"/>
                </a:solidFill>
                <a:latin typeface="Aptos"/>
              </a:rPr>
              <a:t>Riepilogo finale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9848"/>
            <a:ext cx="914400" cy="4572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877824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/>
            <a:r>
              <a:rPr sz="1400" b="0">
                <a:solidFill>
                  <a:srgbClr val="5C6773"/>
                </a:solidFill>
                <a:latin typeface="Aptos"/>
              </a:rPr>
              <a:t>Tre parole per non confondersi.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382512"/>
            <a:ext cx="50292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5C6773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2743200" cy="2651760"/>
          </a:xfrm>
          <a:prstGeom prst="roundRect">
            <a:avLst/>
          </a:prstGeom>
          <a:solidFill>
            <a:srgbClr val="E5ECF6"/>
          </a:solidFill>
          <a:ln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39112" y="2121408"/>
            <a:ext cx="411480" cy="411480"/>
          </a:xfrm>
          <a:prstGeom prst="ellipse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39112" y="2130552"/>
            <a:ext cx="4114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2788920"/>
            <a:ext cx="2103120" cy="347472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/>
            <a:r>
              <a:rPr sz="2200" b="1">
                <a:solidFill>
                  <a:srgbClr val="232934"/>
                </a:solidFill>
                <a:latin typeface="Aptos"/>
              </a:rPr>
              <a:t>Lavoro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73552"/>
            <a:ext cx="2286000" cy="54864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/>
            <a:r>
              <a:rPr sz="1520" b="0">
                <a:solidFill>
                  <a:srgbClr val="5C6773"/>
                </a:solidFill>
                <a:latin typeface="Aptos"/>
              </a:rPr>
              <a:t>tutela e
rappresentanza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828800"/>
            <a:ext cx="2743200" cy="2651760"/>
          </a:xfrm>
          <a:prstGeom prst="roundRect">
            <a:avLst/>
          </a:prstGeom>
          <a:solidFill>
            <a:srgbClr val="E2F1F0"/>
          </a:solidFill>
          <a:ln>
            <a:solidFill>
              <a:srgbClr val="E2F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22392" y="2121408"/>
            <a:ext cx="411480" cy="411480"/>
          </a:xfrm>
          <a:prstGeom prst="ellipse">
            <a:avLst/>
          </a:prstGeom>
          <a:solidFill>
            <a:srgbClr val="2F8A8F"/>
          </a:solidFill>
          <a:ln>
            <a:solidFill>
              <a:srgbClr val="2F8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2392" y="2130552"/>
            <a:ext cx="4114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88920"/>
            <a:ext cx="2103120" cy="347472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/>
            <a:r>
              <a:rPr sz="2200" b="1">
                <a:solidFill>
                  <a:srgbClr val="232934"/>
                </a:solidFill>
                <a:latin typeface="Aptos"/>
              </a:rPr>
              <a:t>Previdenza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73552"/>
            <a:ext cx="2286000" cy="54864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/>
            <a:r>
              <a:rPr sz="1520" b="0">
                <a:solidFill>
                  <a:srgbClr val="5C6773"/>
                </a:solidFill>
                <a:latin typeface="Aptos"/>
              </a:rPr>
              <a:t>pensioni e prestazioni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828800"/>
            <a:ext cx="2743200" cy="2651760"/>
          </a:xfrm>
          <a:prstGeom prst="roundRect">
            <a:avLst/>
          </a:prstGeom>
          <a:solidFill>
            <a:srgbClr val="F7EBD6"/>
          </a:solidFill>
          <a:ln>
            <a:solidFill>
              <a:srgbClr val="F7E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05672" y="2121408"/>
            <a:ext cx="411480" cy="411480"/>
          </a:xfrm>
          <a:prstGeom prst="ellipse">
            <a:avLst/>
          </a:prstGeom>
          <a:solidFill>
            <a:srgbClr val="D8A14B"/>
          </a:solidFill>
          <a:ln>
            <a:solidFill>
              <a:srgbClr val="D8A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5672" y="2130552"/>
            <a:ext cx="41148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788920"/>
            <a:ext cx="2103120" cy="347472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/>
            <a:r>
              <a:rPr sz="2200" b="1">
                <a:solidFill>
                  <a:srgbClr val="232934"/>
                </a:solidFill>
                <a:latin typeface="Aptos"/>
              </a:rPr>
              <a:t>Fiscalità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273552"/>
            <a:ext cx="2286000" cy="54864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/>
            <a:r>
              <a:rPr sz="1520" b="0">
                <a:solidFill>
                  <a:srgbClr val="5C6773"/>
                </a:solidFill>
                <a:latin typeface="Aptos"/>
              </a:rPr>
              <a:t>dichiarazioni e ISEE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0240" y="4983480"/>
            <a:ext cx="8366760" cy="822960"/>
          </a:xfrm>
          <a:prstGeom prst="round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5157216"/>
            <a:ext cx="781812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/>
            <a:r>
              <a:rPr sz="1380" b="0">
                <a:solidFill>
                  <a:srgbClr val="FFFFFF"/>
                </a:solidFill>
                <a:latin typeface="Aptos"/>
              </a:rPr>
              <a:t>Regola pratica: prima chiediti qual è il problema. Se è lavoro -&gt; sindacato. Se è prestazione -&gt; patronato. Se è fisco -&gt; CAF.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